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  <p:sldId id="263" r:id="rId11"/>
  </p:sldIdLst>
  <p:sldSz cx="18288000" cy="10287000"/>
  <p:notesSz cx="6858000" cy="9144000"/>
  <p:embeddedFontLst>
    <p:embeddedFont>
      <p:font typeface="Alata"/>
      <p:regular r:id="rId12"/>
    </p:embeddedFont>
    <p:embeddedFont>
      <p:font typeface="Canva Sans Bold" panose="020B0803030501040103" pitchFamily="34" charset="0"/>
      <p:regular r:id="rId13"/>
      <p:bold r:id="rId14"/>
    </p:embeddedFont>
    <p:embeddedFont>
      <p:font typeface="Pathway Gothic One" panose="02000506050000020004" pitchFamily="2" charset="77"/>
      <p:regular r:id="rId15"/>
    </p:embeddedFont>
    <p:embeddedFont>
      <p:font typeface="Questrial" pitchFamily="2" charset="77"/>
      <p:regular r:id="rId16"/>
    </p:embeddedFont>
    <p:embeddedFont>
      <p:font typeface="Roboto Condensed Bold" panose="02000000000000000000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58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2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9.svg"/><Relationship Id="rId5" Type="http://schemas.openxmlformats.org/officeDocument/2006/relationships/image" Target="../media/image4.sv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5900" y="433669"/>
            <a:ext cx="17248671" cy="9289498"/>
            <a:chOff x="0" y="0"/>
            <a:chExt cx="4542860" cy="244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2860" cy="2446617"/>
            </a:xfrm>
            <a:custGeom>
              <a:avLst/>
              <a:gdLst/>
              <a:ahLst/>
              <a:cxnLst/>
              <a:rect l="l" t="t" r="r" b="b"/>
              <a:pathLst>
                <a:path w="4542860" h="2446617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A3F6B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2860" cy="2484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744767">
            <a:off x="15046067" y="4896001"/>
            <a:ext cx="1653786" cy="2100652"/>
          </a:xfrm>
          <a:custGeom>
            <a:avLst/>
            <a:gdLst/>
            <a:ahLst/>
            <a:cxnLst/>
            <a:rect l="l" t="t" r="r" b="b"/>
            <a:pathLst>
              <a:path w="1653786" h="2100652">
                <a:moveTo>
                  <a:pt x="0" y="0"/>
                </a:moveTo>
                <a:lnTo>
                  <a:pt x="1653785" y="0"/>
                </a:lnTo>
                <a:lnTo>
                  <a:pt x="1653785" y="2100652"/>
                </a:lnTo>
                <a:lnTo>
                  <a:pt x="0" y="210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1488550">
            <a:off x="-770349" y="-125344"/>
            <a:ext cx="2815109" cy="3712973"/>
          </a:xfrm>
          <a:custGeom>
            <a:avLst/>
            <a:gdLst/>
            <a:ahLst/>
            <a:cxnLst/>
            <a:rect l="l" t="t" r="r" b="b"/>
            <a:pathLst>
              <a:path w="2815109" h="3712973">
                <a:moveTo>
                  <a:pt x="0" y="0"/>
                </a:moveTo>
                <a:lnTo>
                  <a:pt x="2815108" y="0"/>
                </a:lnTo>
                <a:lnTo>
                  <a:pt x="2815108" y="3712973"/>
                </a:lnTo>
                <a:lnTo>
                  <a:pt x="0" y="3712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2593606">
            <a:off x="-824263" y="4752151"/>
            <a:ext cx="2161588" cy="3872551"/>
          </a:xfrm>
          <a:custGeom>
            <a:avLst/>
            <a:gdLst/>
            <a:ahLst/>
            <a:cxnLst/>
            <a:rect l="l" t="t" r="r" b="b"/>
            <a:pathLst>
              <a:path w="2161588" h="3872551">
                <a:moveTo>
                  <a:pt x="0" y="0"/>
                </a:moveTo>
                <a:lnTo>
                  <a:pt x="2161588" y="0"/>
                </a:lnTo>
                <a:lnTo>
                  <a:pt x="2161588" y="3872551"/>
                </a:lnTo>
                <a:lnTo>
                  <a:pt x="0" y="387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613730">
            <a:off x="16201929" y="2537803"/>
            <a:ext cx="3100340" cy="2339347"/>
          </a:xfrm>
          <a:custGeom>
            <a:avLst/>
            <a:gdLst/>
            <a:ahLst/>
            <a:cxnLst/>
            <a:rect l="l" t="t" r="r" b="b"/>
            <a:pathLst>
              <a:path w="3100340" h="2339347">
                <a:moveTo>
                  <a:pt x="0" y="0"/>
                </a:moveTo>
                <a:lnTo>
                  <a:pt x="3100340" y="0"/>
                </a:lnTo>
                <a:lnTo>
                  <a:pt x="3100340" y="2339348"/>
                </a:lnTo>
                <a:lnTo>
                  <a:pt x="0" y="2339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 rot="9522896">
            <a:off x="16676573" y="7475501"/>
            <a:ext cx="2215997" cy="2244564"/>
          </a:xfrm>
          <a:custGeom>
            <a:avLst/>
            <a:gdLst/>
            <a:ahLst/>
            <a:cxnLst/>
            <a:rect l="l" t="t" r="r" b="b"/>
            <a:pathLst>
              <a:path w="2215997" h="2244564">
                <a:moveTo>
                  <a:pt x="0" y="0"/>
                </a:moveTo>
                <a:lnTo>
                  <a:pt x="2215997" y="0"/>
                </a:lnTo>
                <a:lnTo>
                  <a:pt x="2215997" y="2244564"/>
                </a:lnTo>
                <a:lnTo>
                  <a:pt x="0" y="2244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17087" y="7716852"/>
            <a:ext cx="4059938" cy="4142794"/>
          </a:xfrm>
          <a:custGeom>
            <a:avLst/>
            <a:gdLst/>
            <a:ahLst/>
            <a:cxnLst/>
            <a:rect l="l" t="t" r="r" b="b"/>
            <a:pathLst>
              <a:path w="4059938" h="4142794">
                <a:moveTo>
                  <a:pt x="0" y="0"/>
                </a:moveTo>
                <a:lnTo>
                  <a:pt x="4059938" y="0"/>
                </a:lnTo>
                <a:lnTo>
                  <a:pt x="4059938" y="4142794"/>
                </a:lnTo>
                <a:lnTo>
                  <a:pt x="0" y="41427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1475072">
            <a:off x="1816772" y="4425568"/>
            <a:ext cx="1749685" cy="2872616"/>
          </a:xfrm>
          <a:custGeom>
            <a:avLst/>
            <a:gdLst/>
            <a:ahLst/>
            <a:cxnLst/>
            <a:rect l="l" t="t" r="r" b="b"/>
            <a:pathLst>
              <a:path w="1749685" h="2872616">
                <a:moveTo>
                  <a:pt x="0" y="0"/>
                </a:moveTo>
                <a:lnTo>
                  <a:pt x="1749685" y="0"/>
                </a:lnTo>
                <a:lnTo>
                  <a:pt x="1749685" y="2872617"/>
                </a:lnTo>
                <a:lnTo>
                  <a:pt x="0" y="2872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1022181">
            <a:off x="15758573" y="-186734"/>
            <a:ext cx="2295442" cy="2270401"/>
          </a:xfrm>
          <a:custGeom>
            <a:avLst/>
            <a:gdLst/>
            <a:ahLst/>
            <a:cxnLst/>
            <a:rect l="l" t="t" r="r" b="b"/>
            <a:pathLst>
              <a:path w="2295442" h="2270401">
                <a:moveTo>
                  <a:pt x="0" y="0"/>
                </a:moveTo>
                <a:lnTo>
                  <a:pt x="2295441" y="0"/>
                </a:lnTo>
                <a:lnTo>
                  <a:pt x="2295441" y="2270400"/>
                </a:lnTo>
                <a:lnTo>
                  <a:pt x="0" y="2270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1458833">
            <a:off x="1947816" y="146390"/>
            <a:ext cx="2504893" cy="3693542"/>
          </a:xfrm>
          <a:custGeom>
            <a:avLst/>
            <a:gdLst/>
            <a:ahLst/>
            <a:cxnLst/>
            <a:rect l="l" t="t" r="r" b="b"/>
            <a:pathLst>
              <a:path w="2504893" h="3693542">
                <a:moveTo>
                  <a:pt x="0" y="0"/>
                </a:moveTo>
                <a:lnTo>
                  <a:pt x="2504893" y="0"/>
                </a:lnTo>
                <a:lnTo>
                  <a:pt x="2504893" y="3693542"/>
                </a:lnTo>
                <a:lnTo>
                  <a:pt x="0" y="3693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962524" y="3209314"/>
            <a:ext cx="10789890" cy="386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6"/>
              </a:lnSpc>
            </a:pPr>
            <a:r>
              <a:rPr lang="en-US" sz="7628" dirty="0" err="1">
                <a:solidFill>
                  <a:srgbClr val="3B365F"/>
                </a:solidFill>
                <a:latin typeface="Alata"/>
                <a:ea typeface="Alata"/>
                <a:cs typeface="Alata"/>
                <a:sym typeface="Alata"/>
              </a:rPr>
              <a:t>IsoLogic</a:t>
            </a:r>
            <a:endParaRPr lang="en-US" sz="7628" dirty="0">
              <a:solidFill>
                <a:srgbClr val="3B365F"/>
              </a:solidFill>
              <a:latin typeface="Alata"/>
              <a:ea typeface="Alata"/>
              <a:cs typeface="Alata"/>
              <a:sym typeface="Alata"/>
            </a:endParaRPr>
          </a:p>
          <a:p>
            <a:pPr algn="ctr">
              <a:lnSpc>
                <a:spcPts val="8696"/>
              </a:lnSpc>
            </a:pPr>
            <a:r>
              <a:rPr lang="en-US" sz="7628" dirty="0">
                <a:solidFill>
                  <a:srgbClr val="3B365F"/>
                </a:solidFill>
                <a:latin typeface="Alata"/>
                <a:ea typeface="Alata"/>
                <a:cs typeface="Alata"/>
                <a:sym typeface="Alata"/>
              </a:rPr>
              <a:t> Isolation &amp; PPE Quick Guide</a:t>
            </a:r>
          </a:p>
          <a:p>
            <a:pPr algn="ctr">
              <a:lnSpc>
                <a:spcPts val="4022"/>
              </a:lnSpc>
            </a:pPr>
            <a:r>
              <a:rPr lang="en-US" sz="3528" dirty="0">
                <a:solidFill>
                  <a:srgbClr val="3B365F"/>
                </a:solidFill>
                <a:latin typeface="Alata"/>
                <a:ea typeface="Alata"/>
                <a:cs typeface="Alata"/>
                <a:sym typeface="Alata"/>
              </a:rPr>
              <a:t>A Python-Based Clinical Decision Tool</a:t>
            </a:r>
          </a:p>
        </p:txBody>
      </p:sp>
      <p:sp>
        <p:nvSpPr>
          <p:cNvPr id="16" name="Freeform 16"/>
          <p:cNvSpPr/>
          <p:nvPr/>
        </p:nvSpPr>
        <p:spPr>
          <a:xfrm rot="-1610376">
            <a:off x="13884356" y="7516372"/>
            <a:ext cx="2504893" cy="3693542"/>
          </a:xfrm>
          <a:custGeom>
            <a:avLst/>
            <a:gdLst/>
            <a:ahLst/>
            <a:cxnLst/>
            <a:rect l="l" t="t" r="r" b="b"/>
            <a:pathLst>
              <a:path w="2504893" h="3693542">
                <a:moveTo>
                  <a:pt x="0" y="0"/>
                </a:moveTo>
                <a:lnTo>
                  <a:pt x="2504893" y="0"/>
                </a:lnTo>
                <a:lnTo>
                  <a:pt x="2504893" y="3693542"/>
                </a:lnTo>
                <a:lnTo>
                  <a:pt x="0" y="3693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481633" y="9105410"/>
            <a:ext cx="6189821" cy="51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3425">
                <a:solidFill>
                  <a:srgbClr val="000C4D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Health Information Systems &amp; Development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21691" y="8595375"/>
            <a:ext cx="7871556" cy="507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4"/>
              </a:lnSpc>
            </a:pPr>
            <a:r>
              <a:rPr lang="en-US" sz="3460">
                <a:solidFill>
                  <a:srgbClr val="3B365F"/>
                </a:solidFill>
                <a:latin typeface="Alata"/>
                <a:ea typeface="Alata"/>
                <a:cs typeface="Alata"/>
                <a:sym typeface="Alata"/>
              </a:rPr>
              <a:t>Ashley S. West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56908" y="2015315"/>
            <a:ext cx="16734336" cy="2314759"/>
            <a:chOff x="0" y="0"/>
            <a:chExt cx="2938031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8031" cy="406400"/>
            </a:xfrm>
            <a:custGeom>
              <a:avLst/>
              <a:gdLst/>
              <a:ahLst/>
              <a:cxnLst/>
              <a:rect l="l" t="t" r="r" b="b"/>
              <a:pathLst>
                <a:path w="2938031" h="406400">
                  <a:moveTo>
                    <a:pt x="2734831" y="0"/>
                  </a:moveTo>
                  <a:cubicBezTo>
                    <a:pt x="2847056" y="0"/>
                    <a:pt x="2938031" y="90976"/>
                    <a:pt x="2938031" y="203200"/>
                  </a:cubicBezTo>
                  <a:cubicBezTo>
                    <a:pt x="2938031" y="315424"/>
                    <a:pt x="2847056" y="406400"/>
                    <a:pt x="27348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B36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938031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5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10260" y="2385739"/>
            <a:ext cx="8522699" cy="1517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32"/>
              </a:lnSpc>
            </a:pPr>
            <a:r>
              <a:rPr lang="en-US" sz="8880">
                <a:solidFill>
                  <a:srgbClr val="F7FFFD"/>
                </a:solidFill>
                <a:latin typeface="Alata"/>
                <a:ea typeface="Alata"/>
                <a:cs typeface="Alata"/>
                <a:sym typeface="Alata"/>
              </a:rPr>
              <a:t>The Problem</a:t>
            </a:r>
          </a:p>
        </p:txBody>
      </p:sp>
      <p:sp>
        <p:nvSpPr>
          <p:cNvPr id="6" name="Freeform 6"/>
          <p:cNvSpPr/>
          <p:nvPr/>
        </p:nvSpPr>
        <p:spPr>
          <a:xfrm>
            <a:off x="15956661" y="431872"/>
            <a:ext cx="1984669" cy="2010254"/>
          </a:xfrm>
          <a:custGeom>
            <a:avLst/>
            <a:gdLst/>
            <a:ahLst/>
            <a:cxnLst/>
            <a:rect l="l" t="t" r="r" b="b"/>
            <a:pathLst>
              <a:path w="1984669" h="2010254">
                <a:moveTo>
                  <a:pt x="0" y="0"/>
                </a:moveTo>
                <a:lnTo>
                  <a:pt x="1984669" y="0"/>
                </a:lnTo>
                <a:lnTo>
                  <a:pt x="1984669" y="2010255"/>
                </a:lnTo>
                <a:lnTo>
                  <a:pt x="0" y="2010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037154" y="1437000"/>
            <a:ext cx="10635994" cy="8229600"/>
          </a:xfrm>
          <a:custGeom>
            <a:avLst/>
            <a:gdLst/>
            <a:ahLst/>
            <a:cxnLst/>
            <a:rect l="l" t="t" r="r" b="b"/>
            <a:pathLst>
              <a:path w="10635994" h="8229600">
                <a:moveTo>
                  <a:pt x="0" y="0"/>
                </a:moveTo>
                <a:lnTo>
                  <a:pt x="10635993" y="0"/>
                </a:lnTo>
                <a:lnTo>
                  <a:pt x="106359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57253" y="4524374"/>
            <a:ext cx="7633740" cy="410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Healthcare workers must quickly determine isolation precautions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Guidelines are long and policy-based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Staff may rely on memory under pressure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Inconsistent decisions increase infection transmission risk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No quick bedside decision-support tool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3B365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9664" y="566027"/>
            <a:ext cx="17248671" cy="9289498"/>
            <a:chOff x="0" y="0"/>
            <a:chExt cx="4542860" cy="244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2860" cy="2446617"/>
            </a:xfrm>
            <a:custGeom>
              <a:avLst/>
              <a:gdLst/>
              <a:ahLst/>
              <a:cxnLst/>
              <a:rect l="l" t="t" r="r" b="b"/>
              <a:pathLst>
                <a:path w="4542860" h="2446617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3B365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42860" cy="2503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3230" y="1657735"/>
            <a:ext cx="15710759" cy="2012550"/>
            <a:chOff x="0" y="0"/>
            <a:chExt cx="3172519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72520" cy="406400"/>
            </a:xfrm>
            <a:custGeom>
              <a:avLst/>
              <a:gdLst/>
              <a:ahLst/>
              <a:cxnLst/>
              <a:rect l="l" t="t" r="r" b="b"/>
              <a:pathLst>
                <a:path w="3172520" h="406400">
                  <a:moveTo>
                    <a:pt x="2969320" y="0"/>
                  </a:moveTo>
                  <a:cubicBezTo>
                    <a:pt x="3081544" y="0"/>
                    <a:pt x="3172520" y="90976"/>
                    <a:pt x="3172520" y="203200"/>
                  </a:cubicBezTo>
                  <a:cubicBezTo>
                    <a:pt x="3172520" y="315424"/>
                    <a:pt x="3081544" y="406400"/>
                    <a:pt x="29693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C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172519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495979" y="5331739"/>
            <a:ext cx="6143106" cy="4370138"/>
          </a:xfrm>
          <a:custGeom>
            <a:avLst/>
            <a:gdLst/>
            <a:ahLst/>
            <a:cxnLst/>
            <a:rect l="l" t="t" r="r" b="b"/>
            <a:pathLst>
              <a:path w="6143106" h="4370138">
                <a:moveTo>
                  <a:pt x="0" y="0"/>
                </a:moveTo>
                <a:lnTo>
                  <a:pt x="6143106" y="0"/>
                </a:lnTo>
                <a:lnTo>
                  <a:pt x="6143106" y="4370138"/>
                </a:lnTo>
                <a:lnTo>
                  <a:pt x="0" y="4370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2" t="-188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233230" y="6449683"/>
            <a:ext cx="1122875" cy="228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12"/>
              </a:lnSpc>
            </a:pPr>
            <a:r>
              <a:rPr lang="en-US" sz="11477">
                <a:solidFill>
                  <a:srgbClr val="3B365F"/>
                </a:solidFill>
                <a:latin typeface="Alata"/>
                <a:ea typeface="Alata"/>
                <a:cs typeface="Alata"/>
                <a:sym typeface="Alata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9925" y="1770991"/>
            <a:ext cx="16218413" cy="112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>
                <a:solidFill>
                  <a:srgbClr val="F7FFFD"/>
                </a:solidFill>
                <a:latin typeface="Alata"/>
                <a:ea typeface="Alata"/>
                <a:cs typeface="Alata"/>
                <a:sym typeface="Alata"/>
              </a:rPr>
              <a:t>The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3230" y="4043000"/>
            <a:ext cx="1122875" cy="228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12"/>
              </a:lnSpc>
            </a:pPr>
            <a:r>
              <a:rPr lang="en-US" sz="11477">
                <a:solidFill>
                  <a:srgbClr val="3B365F"/>
                </a:solidFill>
                <a:latin typeface="Alata"/>
                <a:ea typeface="Alata"/>
                <a:cs typeface="Alata"/>
                <a:sym typeface="Alata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59743" y="3799751"/>
            <a:ext cx="5657734" cy="320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dirty="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This Python program will:</a:t>
            </a:r>
          </a:p>
          <a:p>
            <a:pPr marL="437898" lvl="1" indent="-218949" algn="l">
              <a:lnSpc>
                <a:spcPts val="2839"/>
              </a:lnSpc>
              <a:buFont typeface="Arial"/>
              <a:buChar char="•"/>
            </a:pPr>
            <a:r>
              <a:rPr lang="en-US" sz="2028" dirty="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Provide a menu of common infectious conditions</a:t>
            </a:r>
          </a:p>
          <a:p>
            <a:pPr marL="437898" lvl="1" indent="-218949" algn="l">
              <a:lnSpc>
                <a:spcPts val="2839"/>
              </a:lnSpc>
              <a:buFont typeface="Arial"/>
              <a:buChar char="•"/>
            </a:pPr>
            <a:r>
              <a:rPr lang="en-US" sz="2028" dirty="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Automatically determine:</a:t>
            </a:r>
          </a:p>
          <a:p>
            <a:pPr marL="875796" lvl="2" indent="-291932" algn="l">
              <a:lnSpc>
                <a:spcPts val="2839"/>
              </a:lnSpc>
              <a:buFont typeface="Arial"/>
              <a:buChar char="⚬"/>
            </a:pPr>
            <a:r>
              <a:rPr lang="en-US" sz="2028" dirty="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Isolation category</a:t>
            </a:r>
          </a:p>
          <a:p>
            <a:pPr marL="875796" lvl="2" indent="-291932" algn="l">
              <a:lnSpc>
                <a:spcPts val="2839"/>
              </a:lnSpc>
              <a:buFont typeface="Arial"/>
              <a:buChar char="⚬"/>
            </a:pPr>
            <a:r>
              <a:rPr lang="en-US" sz="2028" dirty="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Required PPE</a:t>
            </a:r>
          </a:p>
          <a:p>
            <a:pPr marL="875796" lvl="2" indent="-291932" algn="l">
              <a:lnSpc>
                <a:spcPts val="2839"/>
              </a:lnSpc>
              <a:buFont typeface="Arial"/>
              <a:buChar char="⚬"/>
            </a:pPr>
            <a:r>
              <a:rPr lang="en-US" sz="2028" dirty="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Room requirements</a:t>
            </a:r>
          </a:p>
          <a:p>
            <a:pPr marL="875796" lvl="2" indent="-291932" algn="l">
              <a:lnSpc>
                <a:spcPts val="2839"/>
              </a:lnSpc>
              <a:buFont typeface="Arial"/>
              <a:buChar char="⚬"/>
            </a:pPr>
            <a:r>
              <a:rPr lang="en-US" sz="2028" dirty="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Cleaning reminders</a:t>
            </a:r>
          </a:p>
          <a:p>
            <a:pPr marL="0" lvl="0" indent="0" algn="l">
              <a:lnSpc>
                <a:spcPts val="2839"/>
              </a:lnSpc>
              <a:spcBef>
                <a:spcPct val="0"/>
              </a:spcBef>
            </a:pPr>
            <a:endParaRPr lang="en-US" sz="2028" dirty="0">
              <a:solidFill>
                <a:srgbClr val="3B365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925000" y="7678623"/>
            <a:ext cx="2854132" cy="1058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Standardizes decisions.</a:t>
            </a:r>
          </a:p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Reduces variability.</a:t>
            </a:r>
          </a:p>
          <a:p>
            <a:pPr marL="0" lvl="0" indent="0" algn="l">
              <a:lnSpc>
                <a:spcPts val="2839"/>
              </a:lnSpc>
              <a:spcBef>
                <a:spcPct val="0"/>
              </a:spcBef>
            </a:pPr>
            <a:r>
              <a:rPr lang="en-US" sz="2028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Improves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56908" y="2015315"/>
            <a:ext cx="16734336" cy="2314759"/>
            <a:chOff x="0" y="0"/>
            <a:chExt cx="2938031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8031" cy="406400"/>
            </a:xfrm>
            <a:custGeom>
              <a:avLst/>
              <a:gdLst/>
              <a:ahLst/>
              <a:cxnLst/>
              <a:rect l="l" t="t" r="r" b="b"/>
              <a:pathLst>
                <a:path w="2938031" h="406400">
                  <a:moveTo>
                    <a:pt x="2734831" y="0"/>
                  </a:moveTo>
                  <a:cubicBezTo>
                    <a:pt x="2847056" y="0"/>
                    <a:pt x="2938031" y="90976"/>
                    <a:pt x="2938031" y="203200"/>
                  </a:cubicBezTo>
                  <a:cubicBezTo>
                    <a:pt x="2938031" y="315424"/>
                    <a:pt x="2847056" y="406400"/>
                    <a:pt x="27348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B36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938031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5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08392" y="1028700"/>
            <a:ext cx="6450908" cy="8759549"/>
            <a:chOff x="0" y="0"/>
            <a:chExt cx="1699005" cy="23070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9004" cy="2307042"/>
            </a:xfrm>
            <a:custGeom>
              <a:avLst/>
              <a:gdLst/>
              <a:ahLst/>
              <a:cxnLst/>
              <a:rect l="l" t="t" r="r" b="b"/>
              <a:pathLst>
                <a:path w="1699004" h="2307042">
                  <a:moveTo>
                    <a:pt x="4801" y="0"/>
                  </a:moveTo>
                  <a:lnTo>
                    <a:pt x="1694204" y="0"/>
                  </a:lnTo>
                  <a:cubicBezTo>
                    <a:pt x="1695477" y="0"/>
                    <a:pt x="1696698" y="506"/>
                    <a:pt x="1697598" y="1406"/>
                  </a:cubicBezTo>
                  <a:cubicBezTo>
                    <a:pt x="1698499" y="2306"/>
                    <a:pt x="1699004" y="3527"/>
                    <a:pt x="1699004" y="4801"/>
                  </a:cubicBezTo>
                  <a:lnTo>
                    <a:pt x="1699004" y="2302241"/>
                  </a:lnTo>
                  <a:cubicBezTo>
                    <a:pt x="1699004" y="2303514"/>
                    <a:pt x="1698499" y="2304735"/>
                    <a:pt x="1697598" y="2305636"/>
                  </a:cubicBezTo>
                  <a:cubicBezTo>
                    <a:pt x="1696698" y="2306536"/>
                    <a:pt x="1695477" y="2307042"/>
                    <a:pt x="1694204" y="2307042"/>
                  </a:cubicBezTo>
                  <a:lnTo>
                    <a:pt x="4801" y="2307042"/>
                  </a:lnTo>
                  <a:cubicBezTo>
                    <a:pt x="3527" y="2307042"/>
                    <a:pt x="2306" y="2306536"/>
                    <a:pt x="1406" y="2305636"/>
                  </a:cubicBezTo>
                  <a:cubicBezTo>
                    <a:pt x="506" y="2304735"/>
                    <a:pt x="0" y="2303514"/>
                    <a:pt x="0" y="2302241"/>
                  </a:cubicBezTo>
                  <a:lnTo>
                    <a:pt x="0" y="4801"/>
                  </a:lnTo>
                  <a:cubicBezTo>
                    <a:pt x="0" y="3527"/>
                    <a:pt x="506" y="2306"/>
                    <a:pt x="1406" y="1406"/>
                  </a:cubicBezTo>
                  <a:cubicBezTo>
                    <a:pt x="2306" y="506"/>
                    <a:pt x="3527" y="0"/>
                    <a:pt x="4801" y="0"/>
                  </a:cubicBezTo>
                  <a:close/>
                </a:path>
              </a:pathLst>
            </a:custGeom>
            <a:ln w="85725" cap="sq">
              <a:solidFill>
                <a:srgbClr val="3B365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99005" cy="2345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956661" y="431872"/>
            <a:ext cx="1984669" cy="2010254"/>
          </a:xfrm>
          <a:custGeom>
            <a:avLst/>
            <a:gdLst/>
            <a:ahLst/>
            <a:cxnLst/>
            <a:rect l="l" t="t" r="r" b="b"/>
            <a:pathLst>
              <a:path w="1984669" h="2010254">
                <a:moveTo>
                  <a:pt x="0" y="0"/>
                </a:moveTo>
                <a:lnTo>
                  <a:pt x="1984669" y="0"/>
                </a:lnTo>
                <a:lnTo>
                  <a:pt x="1984669" y="2010255"/>
                </a:lnTo>
                <a:lnTo>
                  <a:pt x="0" y="2010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506076" y="2952176"/>
            <a:ext cx="5442919" cy="5442919"/>
          </a:xfrm>
          <a:custGeom>
            <a:avLst/>
            <a:gdLst/>
            <a:ahLst/>
            <a:cxnLst/>
            <a:rect l="l" t="t" r="r" b="b"/>
            <a:pathLst>
              <a:path w="5442919" h="5442919">
                <a:moveTo>
                  <a:pt x="0" y="0"/>
                </a:moveTo>
                <a:lnTo>
                  <a:pt x="5442919" y="0"/>
                </a:lnTo>
                <a:lnTo>
                  <a:pt x="5442919" y="5442920"/>
                </a:lnTo>
                <a:lnTo>
                  <a:pt x="0" y="54429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60308" y="2305104"/>
            <a:ext cx="9772652" cy="1598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4580">
                <a:solidFill>
                  <a:srgbClr val="F7FFFD"/>
                </a:solidFill>
                <a:latin typeface="Alata"/>
                <a:ea typeface="Alata"/>
                <a:cs typeface="Alata"/>
                <a:sym typeface="Alata"/>
              </a:rPr>
              <a:t>How It Works (Programming Structure)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7588" y="4686910"/>
            <a:ext cx="7633740" cy="410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The program will use: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Functions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 loops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If / / else statements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Input validation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Python dictionaries to store infection rules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Formatted output display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3B365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96371" y="1680806"/>
            <a:ext cx="17479131" cy="3042441"/>
            <a:chOff x="0" y="0"/>
            <a:chExt cx="2334809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4809" cy="406400"/>
            </a:xfrm>
            <a:custGeom>
              <a:avLst/>
              <a:gdLst/>
              <a:ahLst/>
              <a:cxnLst/>
              <a:rect l="l" t="t" r="r" b="b"/>
              <a:pathLst>
                <a:path w="2334809" h="406400">
                  <a:moveTo>
                    <a:pt x="2131609" y="0"/>
                  </a:moveTo>
                  <a:cubicBezTo>
                    <a:pt x="2243833" y="0"/>
                    <a:pt x="2334809" y="90976"/>
                    <a:pt x="2334809" y="203200"/>
                  </a:cubicBezTo>
                  <a:cubicBezTo>
                    <a:pt x="2334809" y="315424"/>
                    <a:pt x="2243833" y="406400"/>
                    <a:pt x="21316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B36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334809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5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560004" y="1983368"/>
            <a:ext cx="6843863" cy="240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4"/>
              </a:lnSpc>
            </a:pPr>
            <a:r>
              <a:rPr lang="en-US" sz="7713">
                <a:solidFill>
                  <a:srgbClr val="F7FFFD"/>
                </a:solidFill>
                <a:latin typeface="Alata"/>
                <a:ea typeface="Alata"/>
                <a:cs typeface="Alata"/>
                <a:sym typeface="Alata"/>
              </a:rPr>
              <a:t>Why Fund This Project?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90479" y="1028700"/>
            <a:ext cx="6450908" cy="8229600"/>
            <a:chOff x="0" y="0"/>
            <a:chExt cx="1699005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9004" cy="2167467"/>
            </a:xfrm>
            <a:custGeom>
              <a:avLst/>
              <a:gdLst/>
              <a:ahLst/>
              <a:cxnLst/>
              <a:rect l="l" t="t" r="r" b="b"/>
              <a:pathLst>
                <a:path w="1699004" h="2167467">
                  <a:moveTo>
                    <a:pt x="4801" y="0"/>
                  </a:moveTo>
                  <a:lnTo>
                    <a:pt x="1694204" y="0"/>
                  </a:lnTo>
                  <a:cubicBezTo>
                    <a:pt x="1695477" y="0"/>
                    <a:pt x="1696698" y="506"/>
                    <a:pt x="1697598" y="1406"/>
                  </a:cubicBezTo>
                  <a:cubicBezTo>
                    <a:pt x="1698499" y="2306"/>
                    <a:pt x="1699004" y="3527"/>
                    <a:pt x="1699004" y="4801"/>
                  </a:cubicBezTo>
                  <a:lnTo>
                    <a:pt x="1699004" y="2162666"/>
                  </a:lnTo>
                  <a:cubicBezTo>
                    <a:pt x="1699004" y="2163939"/>
                    <a:pt x="1698499" y="2165160"/>
                    <a:pt x="1697598" y="2166061"/>
                  </a:cubicBezTo>
                  <a:cubicBezTo>
                    <a:pt x="1696698" y="2166961"/>
                    <a:pt x="1695477" y="2167467"/>
                    <a:pt x="1694204" y="2167467"/>
                  </a:cubicBezTo>
                  <a:lnTo>
                    <a:pt x="4801" y="2167467"/>
                  </a:lnTo>
                  <a:cubicBezTo>
                    <a:pt x="3527" y="2167467"/>
                    <a:pt x="2306" y="2166961"/>
                    <a:pt x="1406" y="2166061"/>
                  </a:cubicBezTo>
                  <a:cubicBezTo>
                    <a:pt x="506" y="2165160"/>
                    <a:pt x="0" y="2163939"/>
                    <a:pt x="0" y="2162666"/>
                  </a:cubicBezTo>
                  <a:lnTo>
                    <a:pt x="0" y="4801"/>
                  </a:lnTo>
                  <a:cubicBezTo>
                    <a:pt x="0" y="3527"/>
                    <a:pt x="506" y="2306"/>
                    <a:pt x="1406" y="1406"/>
                  </a:cubicBezTo>
                  <a:cubicBezTo>
                    <a:pt x="2306" y="506"/>
                    <a:pt x="3527" y="0"/>
                    <a:pt x="4801" y="0"/>
                  </a:cubicBezTo>
                  <a:close/>
                </a:path>
              </a:pathLst>
            </a:custGeom>
            <a:ln w="85725" cap="sq">
              <a:solidFill>
                <a:srgbClr val="3B365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99005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03492" y="1259813"/>
            <a:ext cx="5642569" cy="7998487"/>
          </a:xfrm>
          <a:custGeom>
            <a:avLst/>
            <a:gdLst/>
            <a:ahLst/>
            <a:cxnLst/>
            <a:rect l="l" t="t" r="r" b="b"/>
            <a:pathLst>
              <a:path w="5642569" h="7998487">
                <a:moveTo>
                  <a:pt x="0" y="0"/>
                </a:moveTo>
                <a:lnTo>
                  <a:pt x="5642568" y="0"/>
                </a:lnTo>
                <a:lnTo>
                  <a:pt x="5642568" y="7998487"/>
                </a:lnTo>
                <a:lnTo>
                  <a:pt x="0" y="79984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1307711">
            <a:off x="417847" y="532625"/>
            <a:ext cx="1831814" cy="1855428"/>
          </a:xfrm>
          <a:custGeom>
            <a:avLst/>
            <a:gdLst/>
            <a:ahLst/>
            <a:cxnLst/>
            <a:rect l="l" t="t" r="r" b="b"/>
            <a:pathLst>
              <a:path w="1831814" h="1855428">
                <a:moveTo>
                  <a:pt x="0" y="0"/>
                </a:moveTo>
                <a:lnTo>
                  <a:pt x="1831814" y="0"/>
                </a:lnTo>
                <a:lnTo>
                  <a:pt x="1831814" y="1855428"/>
                </a:lnTo>
                <a:lnTo>
                  <a:pt x="0" y="1855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93926">
            <a:off x="5970813" y="6221549"/>
            <a:ext cx="2479439" cy="3656009"/>
          </a:xfrm>
          <a:custGeom>
            <a:avLst/>
            <a:gdLst/>
            <a:ahLst/>
            <a:cxnLst/>
            <a:rect l="l" t="t" r="r" b="b"/>
            <a:pathLst>
              <a:path w="2479439" h="3656009">
                <a:moveTo>
                  <a:pt x="0" y="0"/>
                </a:moveTo>
                <a:lnTo>
                  <a:pt x="2479439" y="0"/>
                </a:lnTo>
                <a:lnTo>
                  <a:pt x="2479439" y="3656009"/>
                </a:lnTo>
                <a:lnTo>
                  <a:pt x="0" y="3656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1438534">
            <a:off x="16430161" y="1095074"/>
            <a:ext cx="1981838" cy="3024874"/>
          </a:xfrm>
          <a:custGeom>
            <a:avLst/>
            <a:gdLst/>
            <a:ahLst/>
            <a:cxnLst/>
            <a:rect l="l" t="t" r="r" b="b"/>
            <a:pathLst>
              <a:path w="1981838" h="3024874">
                <a:moveTo>
                  <a:pt x="0" y="0"/>
                </a:moveTo>
                <a:lnTo>
                  <a:pt x="1981837" y="0"/>
                </a:lnTo>
                <a:lnTo>
                  <a:pt x="1981837" y="3024874"/>
                </a:lnTo>
                <a:lnTo>
                  <a:pt x="0" y="3024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38" r="-30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787340" y="5466692"/>
            <a:ext cx="7633740" cy="410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Supports infection prevention compliance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Reduces decision fatigue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Models real-world healthcare workflow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Scalable to future web-based tools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Real clinical relevance + achievable scope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3B365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3B365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3B365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144000" y="8429575"/>
            <a:ext cx="8984307" cy="372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Bridging Healthcare &amp; Technology Through Practical Programming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9664" y="468340"/>
            <a:ext cx="17248671" cy="9289498"/>
            <a:chOff x="0" y="0"/>
            <a:chExt cx="4542860" cy="244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2860" cy="2446617"/>
            </a:xfrm>
            <a:custGeom>
              <a:avLst/>
              <a:gdLst/>
              <a:ahLst/>
              <a:cxnLst/>
              <a:rect l="l" t="t" r="r" b="b"/>
              <a:pathLst>
                <a:path w="4542860" h="2446617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A3F6B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2860" cy="2484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15423" y="1657735"/>
            <a:ext cx="15222203" cy="2012550"/>
            <a:chOff x="0" y="0"/>
            <a:chExt cx="3073864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73864" cy="406400"/>
            </a:xfrm>
            <a:custGeom>
              <a:avLst/>
              <a:gdLst/>
              <a:ahLst/>
              <a:cxnLst/>
              <a:rect l="l" t="t" r="r" b="b"/>
              <a:pathLst>
                <a:path w="3073864" h="406400">
                  <a:moveTo>
                    <a:pt x="2870664" y="0"/>
                  </a:moveTo>
                  <a:cubicBezTo>
                    <a:pt x="2982888" y="0"/>
                    <a:pt x="3073864" y="90976"/>
                    <a:pt x="3073864" y="203200"/>
                  </a:cubicBezTo>
                  <a:cubicBezTo>
                    <a:pt x="3073864" y="315424"/>
                    <a:pt x="2982888" y="406400"/>
                    <a:pt x="287066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B36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073864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85964" y="4356887"/>
            <a:ext cx="1549144" cy="154914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F6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69428" y="4356887"/>
            <a:ext cx="1549144" cy="154914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F6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652372" y="4338517"/>
            <a:ext cx="1549144" cy="154914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F6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734361" y="7403371"/>
            <a:ext cx="13577011" cy="2016258"/>
          </a:xfrm>
          <a:custGeom>
            <a:avLst/>
            <a:gdLst/>
            <a:ahLst/>
            <a:cxnLst/>
            <a:rect l="l" t="t" r="r" b="b"/>
            <a:pathLst>
              <a:path w="13577011" h="2016258">
                <a:moveTo>
                  <a:pt x="0" y="0"/>
                </a:moveTo>
                <a:lnTo>
                  <a:pt x="13577011" y="0"/>
                </a:lnTo>
                <a:lnTo>
                  <a:pt x="13577011" y="2016258"/>
                </a:lnTo>
                <a:lnTo>
                  <a:pt x="0" y="2016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3245082" y="4523839"/>
            <a:ext cx="1230907" cy="1215241"/>
          </a:xfrm>
          <a:custGeom>
            <a:avLst/>
            <a:gdLst/>
            <a:ahLst/>
            <a:cxnLst/>
            <a:rect l="l" t="t" r="r" b="b"/>
            <a:pathLst>
              <a:path w="1230907" h="1215241">
                <a:moveTo>
                  <a:pt x="0" y="0"/>
                </a:moveTo>
                <a:lnTo>
                  <a:pt x="1230907" y="0"/>
                </a:lnTo>
                <a:lnTo>
                  <a:pt x="1230907" y="1215241"/>
                </a:lnTo>
                <a:lnTo>
                  <a:pt x="0" y="1215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901744" y="4478012"/>
            <a:ext cx="483991" cy="1330976"/>
          </a:xfrm>
          <a:custGeom>
            <a:avLst/>
            <a:gdLst/>
            <a:ahLst/>
            <a:cxnLst/>
            <a:rect l="l" t="t" r="r" b="b"/>
            <a:pathLst>
              <a:path w="483991" h="1330976">
                <a:moveTo>
                  <a:pt x="0" y="0"/>
                </a:moveTo>
                <a:lnTo>
                  <a:pt x="483991" y="0"/>
                </a:lnTo>
                <a:lnTo>
                  <a:pt x="483991" y="1330976"/>
                </a:lnTo>
                <a:lnTo>
                  <a:pt x="0" y="1330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814297" y="4653842"/>
            <a:ext cx="1272473" cy="918494"/>
          </a:xfrm>
          <a:custGeom>
            <a:avLst/>
            <a:gdLst/>
            <a:ahLst/>
            <a:cxnLst/>
            <a:rect l="l" t="t" r="r" b="b"/>
            <a:pathLst>
              <a:path w="1272473" h="918494">
                <a:moveTo>
                  <a:pt x="0" y="0"/>
                </a:moveTo>
                <a:lnTo>
                  <a:pt x="1272473" y="0"/>
                </a:lnTo>
                <a:lnTo>
                  <a:pt x="1272473" y="918494"/>
                </a:lnTo>
                <a:lnTo>
                  <a:pt x="0" y="918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252443" y="1745338"/>
            <a:ext cx="14540847" cy="151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 dirty="0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Flowchart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15423" y="5991131"/>
            <a:ext cx="5202896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6160"/>
              </a:lnSpc>
              <a:buFont typeface="Arial"/>
              <a:buChar char="•"/>
            </a:pPr>
            <a:r>
              <a:rPr lang="en-US" sz="4400" i="1">
                <a:solidFill>
                  <a:srgbClr val="3B365F"/>
                </a:solidFill>
                <a:latin typeface="Alata"/>
                <a:ea typeface="Alata"/>
                <a:cs typeface="Alata"/>
                <a:sym typeface="Alata"/>
              </a:rPr>
              <a:t>Infection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53341" y="5991131"/>
            <a:ext cx="5174632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ctr">
              <a:lnSpc>
                <a:spcPts val="6160"/>
              </a:lnSpc>
              <a:buFont typeface="Arial"/>
              <a:buChar char="•"/>
            </a:pPr>
            <a:r>
              <a:rPr lang="en-US" sz="4400" i="1">
                <a:solidFill>
                  <a:srgbClr val="3B365F"/>
                </a:solidFill>
                <a:latin typeface="Alata"/>
                <a:ea typeface="Alata"/>
                <a:cs typeface="Alata"/>
                <a:sym typeface="Alata"/>
              </a:rPr>
              <a:t>PPE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73900" y="5973386"/>
            <a:ext cx="5185400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6160"/>
              </a:lnSpc>
              <a:buFont typeface="Arial"/>
              <a:buChar char="•"/>
            </a:pPr>
            <a:r>
              <a:rPr lang="en-US" sz="4400" i="1">
                <a:solidFill>
                  <a:srgbClr val="3B365F"/>
                </a:solidFill>
                <a:latin typeface="Alata"/>
                <a:ea typeface="Alata"/>
                <a:cs typeface="Alata"/>
                <a:sym typeface="Alata"/>
              </a:rPr>
              <a:t>Transport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06F968B6-2CB6-E904-4794-049D9DB9D967}"/>
              </a:ext>
            </a:extLst>
          </p:cNvPr>
          <p:cNvGrpSpPr/>
          <p:nvPr/>
        </p:nvGrpSpPr>
        <p:grpSpPr>
          <a:xfrm>
            <a:off x="1715423" y="1657735"/>
            <a:ext cx="15222203" cy="2012550"/>
            <a:chOff x="0" y="0"/>
            <a:chExt cx="3073864" cy="406400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B04B907-52E3-1DFD-5018-EC4926EF1033}"/>
                </a:ext>
              </a:extLst>
            </p:cNvPr>
            <p:cNvSpPr/>
            <p:nvPr/>
          </p:nvSpPr>
          <p:spPr>
            <a:xfrm>
              <a:off x="0" y="0"/>
              <a:ext cx="3073864" cy="406400"/>
            </a:xfrm>
            <a:custGeom>
              <a:avLst/>
              <a:gdLst/>
              <a:ahLst/>
              <a:cxnLst/>
              <a:rect l="l" t="t" r="r" b="b"/>
              <a:pathLst>
                <a:path w="3073864" h="406400">
                  <a:moveTo>
                    <a:pt x="2870664" y="0"/>
                  </a:moveTo>
                  <a:cubicBezTo>
                    <a:pt x="2982888" y="0"/>
                    <a:pt x="3073864" y="90976"/>
                    <a:pt x="3073864" y="203200"/>
                  </a:cubicBezTo>
                  <a:cubicBezTo>
                    <a:pt x="3073864" y="315424"/>
                    <a:pt x="2982888" y="406400"/>
                    <a:pt x="287066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B36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D1D8409A-144C-9089-AEFA-22F216952080}"/>
                </a:ext>
              </a:extLst>
            </p:cNvPr>
            <p:cNvSpPr txBox="1"/>
            <p:nvPr/>
          </p:nvSpPr>
          <p:spPr>
            <a:xfrm>
              <a:off x="0" y="-47625"/>
              <a:ext cx="3073864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303BD53-2599-4D33-0600-FEE9069E1E92}"/>
              </a:ext>
            </a:extLst>
          </p:cNvPr>
          <p:cNvSpPr txBox="1"/>
          <p:nvPr/>
        </p:nvSpPr>
        <p:spPr>
          <a:xfrm>
            <a:off x="4572000" y="1653127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7200" b="1" i="0" u="none" strike="noStrike" dirty="0">
                <a:solidFill>
                  <a:srgbClr val="FFFFFF"/>
                </a:solidFill>
                <a:effectLst/>
              </a:rPr>
              <a:t>Program Demo &amp; Tech Overview</a:t>
            </a:r>
            <a:endParaRPr lang="en-US" sz="72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D93145-2DD8-A097-0B65-43BEF9A886AB}"/>
              </a:ext>
            </a:extLst>
          </p:cNvPr>
          <p:cNvSpPr txBox="1"/>
          <p:nvPr/>
        </p:nvSpPr>
        <p:spPr>
          <a:xfrm>
            <a:off x="3962400" y="4862390"/>
            <a:ext cx="11201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Built using Python</a:t>
            </a:r>
          </a:p>
          <a:p>
            <a:pPr algn="ctr" rtl="0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Uses functions, loops, dictionaries, and conditional logic</a:t>
            </a:r>
          </a:p>
          <a:p>
            <a:pPr algn="ctr" rtl="0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Menu-driven user interface</a:t>
            </a:r>
          </a:p>
          <a:p>
            <a:pPr algn="ctr" rtl="0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Includes input validation and error handling</a:t>
            </a:r>
          </a:p>
          <a:p>
            <a:pPr algn="ctr" rtl="0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Developed incrementally using GitHub version control</a:t>
            </a:r>
          </a:p>
          <a:p>
            <a:pPr algn="ctr" rtl="0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Designed to simulate a real healthcare decision-support workflow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B53B08-43D0-A989-5052-3D52A9A79063}"/>
              </a:ext>
            </a:extLst>
          </p:cNvPr>
          <p:cNvSpPr txBox="1"/>
          <p:nvPr/>
        </p:nvSpPr>
        <p:spPr>
          <a:xfrm>
            <a:off x="6324600" y="887730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/awest2390/ISOLOGIC</a:t>
            </a:r>
          </a:p>
        </p:txBody>
      </p:sp>
    </p:spTree>
    <p:extLst>
      <p:ext uri="{BB962C8B-B14F-4D97-AF65-F5344CB8AC3E}">
        <p14:creationId xmlns:p14="http://schemas.microsoft.com/office/powerpoint/2010/main" val="149217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0237" y="498751"/>
            <a:ext cx="17248671" cy="9289498"/>
            <a:chOff x="0" y="0"/>
            <a:chExt cx="4542860" cy="244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2860" cy="2446617"/>
            </a:xfrm>
            <a:custGeom>
              <a:avLst/>
              <a:gdLst/>
              <a:ahLst/>
              <a:cxnLst/>
              <a:rect l="l" t="t" r="r" b="b"/>
              <a:pathLst>
                <a:path w="4542860" h="2446617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3B365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42860" cy="2503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01840" y="1359151"/>
            <a:ext cx="17259300" cy="2443182"/>
            <a:chOff x="0" y="0"/>
            <a:chExt cx="2870919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70919" cy="406400"/>
            </a:xfrm>
            <a:custGeom>
              <a:avLst/>
              <a:gdLst/>
              <a:ahLst/>
              <a:cxnLst/>
              <a:rect l="l" t="t" r="r" b="b"/>
              <a:pathLst>
                <a:path w="2870919" h="406400">
                  <a:moveTo>
                    <a:pt x="2667719" y="0"/>
                  </a:moveTo>
                  <a:cubicBezTo>
                    <a:pt x="2779944" y="0"/>
                    <a:pt x="2870919" y="90976"/>
                    <a:pt x="2870919" y="203200"/>
                  </a:cubicBezTo>
                  <a:cubicBezTo>
                    <a:pt x="2870919" y="315424"/>
                    <a:pt x="2779944" y="406400"/>
                    <a:pt x="26677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C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870919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0" y="5823126"/>
            <a:ext cx="6297591" cy="1271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3180" lvl="1" indent="-261590" algn="l">
              <a:lnSpc>
                <a:spcPts val="3392"/>
              </a:lnSpc>
              <a:buFont typeface="Arial"/>
              <a:buChar char="•"/>
            </a:pPr>
            <a:r>
              <a:rPr lang="en-US" sz="2423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Investing in this project means investing in safer, smarter healthcare workflows.</a:t>
            </a:r>
          </a:p>
          <a:p>
            <a:pPr algn="l">
              <a:lnSpc>
                <a:spcPts val="3392"/>
              </a:lnSpc>
            </a:pPr>
            <a:endParaRPr lang="en-US" sz="2423">
              <a:solidFill>
                <a:srgbClr val="3B365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4749180" y="797684"/>
            <a:ext cx="3354282" cy="6009299"/>
          </a:xfrm>
          <a:custGeom>
            <a:avLst/>
            <a:gdLst/>
            <a:ahLst/>
            <a:cxnLst/>
            <a:rect l="l" t="t" r="r" b="b"/>
            <a:pathLst>
              <a:path w="3354282" h="6009299">
                <a:moveTo>
                  <a:pt x="0" y="0"/>
                </a:moveTo>
                <a:lnTo>
                  <a:pt x="3354281" y="0"/>
                </a:lnTo>
                <a:lnTo>
                  <a:pt x="3354281" y="6009299"/>
                </a:lnTo>
                <a:lnTo>
                  <a:pt x="0" y="60092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551790">
            <a:off x="11771181" y="571853"/>
            <a:ext cx="2321029" cy="2350951"/>
          </a:xfrm>
          <a:custGeom>
            <a:avLst/>
            <a:gdLst/>
            <a:ahLst/>
            <a:cxnLst/>
            <a:rect l="l" t="t" r="r" b="b"/>
            <a:pathLst>
              <a:path w="2321029" h="2350951">
                <a:moveTo>
                  <a:pt x="0" y="0"/>
                </a:moveTo>
                <a:lnTo>
                  <a:pt x="2321029" y="0"/>
                </a:lnTo>
                <a:lnTo>
                  <a:pt x="2321029" y="2350951"/>
                </a:lnTo>
                <a:lnTo>
                  <a:pt x="0" y="23509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34676" y="1659675"/>
            <a:ext cx="8476115" cy="165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98184" y="4477776"/>
            <a:ext cx="7294611" cy="54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6"/>
              </a:lnSpc>
            </a:pPr>
            <a:r>
              <a:rPr lang="en-US" sz="3283" i="1">
                <a:solidFill>
                  <a:srgbClr val="3B365F"/>
                </a:solidFill>
                <a:latin typeface="Alata"/>
                <a:ea typeface="Alata"/>
                <a:cs typeface="Alata"/>
                <a:sym typeface="Alata"/>
              </a:rPr>
              <a:t>Why This Project Deserves Support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2833" y="5698479"/>
            <a:ext cx="7294611" cy="175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6822" lvl="1" indent="-218411" algn="l">
              <a:lnSpc>
                <a:spcPts val="2832"/>
              </a:lnSpc>
              <a:buFont typeface="Arial"/>
              <a:buChar char="•"/>
            </a:pPr>
            <a:r>
              <a:rPr lang="en-US" sz="2023">
                <a:solidFill>
                  <a:srgbClr val="3B365F"/>
                </a:solidFill>
                <a:latin typeface="Questrial"/>
                <a:ea typeface="Questrial"/>
                <a:cs typeface="Questrial"/>
                <a:sym typeface="Questrial"/>
              </a:rPr>
              <a:t>By combining healthcare knowledge with structured programming logic, this tool models how simple decision-support systems can improve safety, consistency, and efficiency in clinical environments.</a:t>
            </a:r>
          </a:p>
          <a:p>
            <a:pPr algn="l">
              <a:lnSpc>
                <a:spcPts val="2832"/>
              </a:lnSpc>
            </a:pPr>
            <a:endParaRPr lang="en-US" sz="2023">
              <a:solidFill>
                <a:srgbClr val="3B365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238AA1-9F28-0D04-B74D-4D00784F5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82F2A47-8EB2-E258-6EBE-D706F60A1CFC}"/>
              </a:ext>
            </a:extLst>
          </p:cNvPr>
          <p:cNvGrpSpPr/>
          <p:nvPr/>
        </p:nvGrpSpPr>
        <p:grpSpPr>
          <a:xfrm>
            <a:off x="620237" y="498751"/>
            <a:ext cx="17248671" cy="9289498"/>
            <a:chOff x="0" y="0"/>
            <a:chExt cx="4542860" cy="244661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1457E81-D624-D152-33B1-E5AEC33D096E}"/>
                </a:ext>
              </a:extLst>
            </p:cNvPr>
            <p:cNvSpPr/>
            <p:nvPr/>
          </p:nvSpPr>
          <p:spPr>
            <a:xfrm>
              <a:off x="0" y="0"/>
              <a:ext cx="4542860" cy="2446617"/>
            </a:xfrm>
            <a:custGeom>
              <a:avLst/>
              <a:gdLst/>
              <a:ahLst/>
              <a:cxnLst/>
              <a:rect l="l" t="t" r="r" b="b"/>
              <a:pathLst>
                <a:path w="4542860" h="2446617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3B365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76E3C63-3CB3-CE17-0924-944C125D8FC3}"/>
                </a:ext>
              </a:extLst>
            </p:cNvPr>
            <p:cNvSpPr txBox="1"/>
            <p:nvPr/>
          </p:nvSpPr>
          <p:spPr>
            <a:xfrm>
              <a:off x="0" y="-57150"/>
              <a:ext cx="4542860" cy="2503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9304E31-8BF4-BB4C-CDB0-0B9B0BF4ED0B}"/>
              </a:ext>
            </a:extLst>
          </p:cNvPr>
          <p:cNvGrpSpPr/>
          <p:nvPr/>
        </p:nvGrpSpPr>
        <p:grpSpPr>
          <a:xfrm>
            <a:off x="-6401840" y="1359151"/>
            <a:ext cx="17259300" cy="2443182"/>
            <a:chOff x="0" y="0"/>
            <a:chExt cx="2870919" cy="4064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FE6BDD3-ACF6-162F-4CA2-F93701086685}"/>
                </a:ext>
              </a:extLst>
            </p:cNvPr>
            <p:cNvSpPr/>
            <p:nvPr/>
          </p:nvSpPr>
          <p:spPr>
            <a:xfrm>
              <a:off x="0" y="0"/>
              <a:ext cx="2870919" cy="406400"/>
            </a:xfrm>
            <a:custGeom>
              <a:avLst/>
              <a:gdLst/>
              <a:ahLst/>
              <a:cxnLst/>
              <a:rect l="l" t="t" r="r" b="b"/>
              <a:pathLst>
                <a:path w="2870919" h="406400">
                  <a:moveTo>
                    <a:pt x="2667719" y="0"/>
                  </a:moveTo>
                  <a:cubicBezTo>
                    <a:pt x="2779944" y="0"/>
                    <a:pt x="2870919" y="90976"/>
                    <a:pt x="2870919" y="203200"/>
                  </a:cubicBezTo>
                  <a:cubicBezTo>
                    <a:pt x="2870919" y="315424"/>
                    <a:pt x="2779944" y="406400"/>
                    <a:pt x="26677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C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96E667B-FE84-4517-8370-E04272222BBB}"/>
                </a:ext>
              </a:extLst>
            </p:cNvPr>
            <p:cNvSpPr txBox="1"/>
            <p:nvPr/>
          </p:nvSpPr>
          <p:spPr>
            <a:xfrm>
              <a:off x="0" y="-47625"/>
              <a:ext cx="2870919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386D69F-28C0-356C-44D7-B8D3BE9356FD}"/>
              </a:ext>
            </a:extLst>
          </p:cNvPr>
          <p:cNvSpPr/>
          <p:nvPr/>
        </p:nvSpPr>
        <p:spPr>
          <a:xfrm>
            <a:off x="13496769" y="472683"/>
            <a:ext cx="3354282" cy="6009299"/>
          </a:xfrm>
          <a:custGeom>
            <a:avLst/>
            <a:gdLst/>
            <a:ahLst/>
            <a:cxnLst/>
            <a:rect l="l" t="t" r="r" b="b"/>
            <a:pathLst>
              <a:path w="3354282" h="6009299">
                <a:moveTo>
                  <a:pt x="0" y="0"/>
                </a:moveTo>
                <a:lnTo>
                  <a:pt x="3354281" y="0"/>
                </a:lnTo>
                <a:lnTo>
                  <a:pt x="3354281" y="6009299"/>
                </a:lnTo>
                <a:lnTo>
                  <a:pt x="0" y="60092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2320BC3-625A-3D6C-6A37-8E89588A908D}"/>
              </a:ext>
            </a:extLst>
          </p:cNvPr>
          <p:cNvSpPr/>
          <p:nvPr/>
        </p:nvSpPr>
        <p:spPr>
          <a:xfrm rot="-1551790">
            <a:off x="15570441" y="4400548"/>
            <a:ext cx="2321029" cy="2350951"/>
          </a:xfrm>
          <a:custGeom>
            <a:avLst/>
            <a:gdLst/>
            <a:ahLst/>
            <a:cxnLst/>
            <a:rect l="l" t="t" r="r" b="b"/>
            <a:pathLst>
              <a:path w="2321029" h="2350951">
                <a:moveTo>
                  <a:pt x="0" y="0"/>
                </a:moveTo>
                <a:lnTo>
                  <a:pt x="2321029" y="0"/>
                </a:lnTo>
                <a:lnTo>
                  <a:pt x="2321029" y="2350951"/>
                </a:lnTo>
                <a:lnTo>
                  <a:pt x="0" y="23509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63482C0-B831-F7A0-257A-9F6336B521A1}"/>
              </a:ext>
            </a:extLst>
          </p:cNvPr>
          <p:cNvSpPr txBox="1"/>
          <p:nvPr/>
        </p:nvSpPr>
        <p:spPr>
          <a:xfrm>
            <a:off x="1834676" y="1659675"/>
            <a:ext cx="8476115" cy="165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dirty="0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References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E1331E4-3EF7-C183-0BAF-44B6AAC604F9}"/>
              </a:ext>
            </a:extLst>
          </p:cNvPr>
          <p:cNvSpPr txBox="1"/>
          <p:nvPr/>
        </p:nvSpPr>
        <p:spPr>
          <a:xfrm>
            <a:off x="782833" y="5698479"/>
            <a:ext cx="8665967" cy="3410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/>
              <a:t>Centers for Disease Control and Prevention (CDC). Isolation Precautions Guidelines.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https://</a:t>
            </a:r>
            <a:r>
              <a:rPr lang="en-US" sz="2000" b="1" dirty="0" err="1"/>
              <a:t>www.cdc.gov</a:t>
            </a:r>
            <a:endParaRPr lang="en-US" sz="2000" dirty="0"/>
          </a:p>
          <a:p>
            <a:r>
              <a:rPr lang="en-US" sz="2000" b="1" dirty="0"/>
              <a:t>Python Software Foundation. Python Documentation.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https://</a:t>
            </a:r>
            <a:r>
              <a:rPr lang="en-US" sz="2000" b="1" dirty="0" err="1"/>
              <a:t>docs.python.org</a:t>
            </a:r>
            <a:r>
              <a:rPr lang="en-US" sz="2000" b="1" dirty="0"/>
              <a:t>/3/</a:t>
            </a:r>
            <a:endParaRPr lang="en-US" sz="2000" dirty="0"/>
          </a:p>
          <a:p>
            <a:r>
              <a:rPr lang="en-US" sz="2000" b="1" dirty="0"/>
              <a:t>GitHub Documentation.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https://</a:t>
            </a:r>
            <a:r>
              <a:rPr lang="en-US" sz="2000" b="1" dirty="0" err="1"/>
              <a:t>docs.github.com</a:t>
            </a:r>
            <a:r>
              <a:rPr lang="en-US" sz="2000" b="1" dirty="0"/>
              <a:t>/</a:t>
            </a:r>
            <a:endParaRPr lang="en-US" sz="2000" dirty="0"/>
          </a:p>
          <a:p>
            <a:r>
              <a:rPr lang="en-US" sz="2000" b="1" dirty="0"/>
              <a:t>OpenAI. ChatGPT used for brainstorming, code review assistance, formatting guidance, and project planning.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https://</a:t>
            </a:r>
            <a:r>
              <a:rPr lang="en-US" sz="2000" b="1" dirty="0" err="1"/>
              <a:t>chat.openai.com</a:t>
            </a:r>
            <a:r>
              <a:rPr lang="en-US" sz="2000" b="1" dirty="0"/>
              <a:t>/</a:t>
            </a:r>
            <a:endParaRPr lang="en-US" sz="2000" dirty="0"/>
          </a:p>
          <a:p>
            <a:pPr algn="l">
              <a:lnSpc>
                <a:spcPts val="2832"/>
              </a:lnSpc>
            </a:pPr>
            <a:endParaRPr lang="en-US" sz="2023" dirty="0">
              <a:solidFill>
                <a:srgbClr val="3B365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1363671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5900" y="498751"/>
            <a:ext cx="17248671" cy="9289498"/>
            <a:chOff x="0" y="0"/>
            <a:chExt cx="4542860" cy="244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2860" cy="2446617"/>
            </a:xfrm>
            <a:custGeom>
              <a:avLst/>
              <a:gdLst/>
              <a:ahLst/>
              <a:cxnLst/>
              <a:rect l="l" t="t" r="r" b="b"/>
              <a:pathLst>
                <a:path w="4542860" h="2446617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solidFill>
              <a:srgbClr val="F7FFFD"/>
            </a:solidFill>
            <a:ln w="85725" cap="sq">
              <a:solidFill>
                <a:srgbClr val="A3F6B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2860" cy="2484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744767">
            <a:off x="15046067" y="4896001"/>
            <a:ext cx="1653786" cy="2100652"/>
          </a:xfrm>
          <a:custGeom>
            <a:avLst/>
            <a:gdLst/>
            <a:ahLst/>
            <a:cxnLst/>
            <a:rect l="l" t="t" r="r" b="b"/>
            <a:pathLst>
              <a:path w="1653786" h="2100652">
                <a:moveTo>
                  <a:pt x="0" y="0"/>
                </a:moveTo>
                <a:lnTo>
                  <a:pt x="1653785" y="0"/>
                </a:lnTo>
                <a:lnTo>
                  <a:pt x="1653785" y="2100652"/>
                </a:lnTo>
                <a:lnTo>
                  <a:pt x="0" y="210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1488550">
            <a:off x="-770349" y="-125344"/>
            <a:ext cx="2815109" cy="3712973"/>
          </a:xfrm>
          <a:custGeom>
            <a:avLst/>
            <a:gdLst/>
            <a:ahLst/>
            <a:cxnLst/>
            <a:rect l="l" t="t" r="r" b="b"/>
            <a:pathLst>
              <a:path w="2815109" h="3712973">
                <a:moveTo>
                  <a:pt x="0" y="0"/>
                </a:moveTo>
                <a:lnTo>
                  <a:pt x="2815108" y="0"/>
                </a:lnTo>
                <a:lnTo>
                  <a:pt x="2815108" y="3712973"/>
                </a:lnTo>
                <a:lnTo>
                  <a:pt x="0" y="3712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2593606">
            <a:off x="-824263" y="4752151"/>
            <a:ext cx="2161588" cy="3872551"/>
          </a:xfrm>
          <a:custGeom>
            <a:avLst/>
            <a:gdLst/>
            <a:ahLst/>
            <a:cxnLst/>
            <a:rect l="l" t="t" r="r" b="b"/>
            <a:pathLst>
              <a:path w="2161588" h="3872551">
                <a:moveTo>
                  <a:pt x="0" y="0"/>
                </a:moveTo>
                <a:lnTo>
                  <a:pt x="2161588" y="0"/>
                </a:lnTo>
                <a:lnTo>
                  <a:pt x="2161588" y="3872551"/>
                </a:lnTo>
                <a:lnTo>
                  <a:pt x="0" y="387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613730">
            <a:off x="16234401" y="-140974"/>
            <a:ext cx="3100340" cy="2339347"/>
          </a:xfrm>
          <a:custGeom>
            <a:avLst/>
            <a:gdLst/>
            <a:ahLst/>
            <a:cxnLst/>
            <a:rect l="l" t="t" r="r" b="b"/>
            <a:pathLst>
              <a:path w="3100340" h="2339347">
                <a:moveTo>
                  <a:pt x="0" y="0"/>
                </a:moveTo>
                <a:lnTo>
                  <a:pt x="3100340" y="0"/>
                </a:lnTo>
                <a:lnTo>
                  <a:pt x="3100340" y="2339348"/>
                </a:lnTo>
                <a:lnTo>
                  <a:pt x="0" y="2339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9522896">
            <a:off x="16676573" y="7475501"/>
            <a:ext cx="2215997" cy="2244564"/>
          </a:xfrm>
          <a:custGeom>
            <a:avLst/>
            <a:gdLst/>
            <a:ahLst/>
            <a:cxnLst/>
            <a:rect l="l" t="t" r="r" b="b"/>
            <a:pathLst>
              <a:path w="2215997" h="2244564">
                <a:moveTo>
                  <a:pt x="0" y="0"/>
                </a:moveTo>
                <a:lnTo>
                  <a:pt x="2215997" y="0"/>
                </a:lnTo>
                <a:lnTo>
                  <a:pt x="2215997" y="2244564"/>
                </a:lnTo>
                <a:lnTo>
                  <a:pt x="0" y="2244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2700000">
            <a:off x="17231547" y="2426934"/>
            <a:ext cx="2112907" cy="4945101"/>
          </a:xfrm>
          <a:custGeom>
            <a:avLst/>
            <a:gdLst/>
            <a:ahLst/>
            <a:cxnLst/>
            <a:rect l="l" t="t" r="r" b="b"/>
            <a:pathLst>
              <a:path w="2112907" h="4945101">
                <a:moveTo>
                  <a:pt x="0" y="0"/>
                </a:moveTo>
                <a:lnTo>
                  <a:pt x="2112906" y="0"/>
                </a:lnTo>
                <a:lnTo>
                  <a:pt x="2112906" y="4945100"/>
                </a:lnTo>
                <a:lnTo>
                  <a:pt x="0" y="4945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17087" y="7716852"/>
            <a:ext cx="4059938" cy="4142794"/>
          </a:xfrm>
          <a:custGeom>
            <a:avLst/>
            <a:gdLst/>
            <a:ahLst/>
            <a:cxnLst/>
            <a:rect l="l" t="t" r="r" b="b"/>
            <a:pathLst>
              <a:path w="4059938" h="4142794">
                <a:moveTo>
                  <a:pt x="0" y="0"/>
                </a:moveTo>
                <a:lnTo>
                  <a:pt x="4059938" y="0"/>
                </a:lnTo>
                <a:lnTo>
                  <a:pt x="4059938" y="4142794"/>
                </a:lnTo>
                <a:lnTo>
                  <a:pt x="0" y="41427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1475072">
            <a:off x="1816772" y="4425568"/>
            <a:ext cx="1749685" cy="2872616"/>
          </a:xfrm>
          <a:custGeom>
            <a:avLst/>
            <a:gdLst/>
            <a:ahLst/>
            <a:cxnLst/>
            <a:rect l="l" t="t" r="r" b="b"/>
            <a:pathLst>
              <a:path w="1749685" h="2872616">
                <a:moveTo>
                  <a:pt x="0" y="0"/>
                </a:moveTo>
                <a:lnTo>
                  <a:pt x="1749685" y="0"/>
                </a:lnTo>
                <a:lnTo>
                  <a:pt x="1749685" y="2872617"/>
                </a:lnTo>
                <a:lnTo>
                  <a:pt x="0" y="2872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1022181">
            <a:off x="13767089" y="785195"/>
            <a:ext cx="2295442" cy="2270401"/>
          </a:xfrm>
          <a:custGeom>
            <a:avLst/>
            <a:gdLst/>
            <a:ahLst/>
            <a:cxnLst/>
            <a:rect l="l" t="t" r="r" b="b"/>
            <a:pathLst>
              <a:path w="2295442" h="2270401">
                <a:moveTo>
                  <a:pt x="0" y="0"/>
                </a:moveTo>
                <a:lnTo>
                  <a:pt x="2295441" y="0"/>
                </a:lnTo>
                <a:lnTo>
                  <a:pt x="2295441" y="2270400"/>
                </a:lnTo>
                <a:lnTo>
                  <a:pt x="0" y="2270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1458833">
            <a:off x="1947816" y="146390"/>
            <a:ext cx="2504893" cy="3693542"/>
          </a:xfrm>
          <a:custGeom>
            <a:avLst/>
            <a:gdLst/>
            <a:ahLst/>
            <a:cxnLst/>
            <a:rect l="l" t="t" r="r" b="b"/>
            <a:pathLst>
              <a:path w="2504893" h="3693542">
                <a:moveTo>
                  <a:pt x="0" y="0"/>
                </a:moveTo>
                <a:lnTo>
                  <a:pt x="2504893" y="0"/>
                </a:lnTo>
                <a:lnTo>
                  <a:pt x="2504893" y="3693542"/>
                </a:lnTo>
                <a:lnTo>
                  <a:pt x="0" y="3693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320748" y="3712154"/>
            <a:ext cx="11844956" cy="2763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8"/>
              </a:lnSpc>
            </a:pPr>
            <a:r>
              <a:rPr lang="en-US" sz="18849" b="1">
                <a:solidFill>
                  <a:srgbClr val="3B365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THANK YOU</a:t>
            </a:r>
          </a:p>
        </p:txBody>
      </p:sp>
      <p:sp>
        <p:nvSpPr>
          <p:cNvPr id="16" name="Freeform 16"/>
          <p:cNvSpPr/>
          <p:nvPr/>
        </p:nvSpPr>
        <p:spPr>
          <a:xfrm rot="-1610376">
            <a:off x="13884356" y="7516372"/>
            <a:ext cx="2504893" cy="3693542"/>
          </a:xfrm>
          <a:custGeom>
            <a:avLst/>
            <a:gdLst/>
            <a:ahLst/>
            <a:cxnLst/>
            <a:rect l="l" t="t" r="r" b="b"/>
            <a:pathLst>
              <a:path w="2504893" h="3693542">
                <a:moveTo>
                  <a:pt x="0" y="0"/>
                </a:moveTo>
                <a:lnTo>
                  <a:pt x="2504893" y="0"/>
                </a:lnTo>
                <a:lnTo>
                  <a:pt x="2504893" y="3693542"/>
                </a:lnTo>
                <a:lnTo>
                  <a:pt x="0" y="3693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9EBB48-5BD8-CD2A-9614-22A462A9ED53}"/>
              </a:ext>
            </a:extLst>
          </p:cNvPr>
          <p:cNvSpPr txBox="1"/>
          <p:nvPr/>
        </p:nvSpPr>
        <p:spPr>
          <a:xfrm>
            <a:off x="6324600" y="887730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/awest2390/ISOLOGIC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341</Words>
  <Application>Microsoft Macintosh PowerPoint</Application>
  <PresentationFormat>Custom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Alata</vt:lpstr>
      <vt:lpstr>Arial</vt:lpstr>
      <vt:lpstr>Roboto Condensed Bold</vt:lpstr>
      <vt:lpstr>Canva Sans Bold</vt:lpstr>
      <vt:lpstr>Calibri</vt:lpstr>
      <vt:lpstr>Pathway Gothic One</vt:lpstr>
      <vt:lpstr>Questrial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and Green Illustrated Medicine Presentation</dc:title>
  <cp:lastModifiedBy>Ashley West</cp:lastModifiedBy>
  <cp:revision>5</cp:revision>
  <dcterms:created xsi:type="dcterms:W3CDTF">2006-08-16T00:00:00Z</dcterms:created>
  <dcterms:modified xsi:type="dcterms:W3CDTF">2026-05-07T22:01:31Z</dcterms:modified>
  <dc:identifier>DAHB6wMX8DE</dc:identifier>
</cp:coreProperties>
</file>